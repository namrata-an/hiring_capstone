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714750" y="171450"/>
            <a:ext cx="4762500" cy="3810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Aptos"/>
              </a:rPr>
              <a:t>Architecture Diagram</a:t>
            </a:r>
          </a:p>
        </p:txBody>
      </p:sp>
      <p:sp>
        <p:nvSpPr>
          <p:cNvPr id="3" name="Shape 3"/>
          <p:cNvSpPr/>
          <p:nvPr/>
        </p:nvSpPr>
        <p:spPr>
          <a:xfrm>
            <a:off x="5848350" y="552450"/>
            <a:ext cx="666750" cy="238125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4" name="Connector 4"/>
          <p:cNvSpPr/>
          <p:nvPr/>
        </p:nvSpPr>
        <p:spPr>
          <a:xfrm>
            <a:off x="6096000" y="800100"/>
            <a:ext cx="9525" cy="266700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5" name="Shape 5"/>
          <p:cNvSpPr/>
          <p:nvPr/>
        </p:nvSpPr>
        <p:spPr>
          <a:xfrm>
            <a:off x="6238875" y="762000"/>
            <a:ext cx="1143000" cy="238125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HTTPS</a:t>
            </a:r>
          </a:p>
        </p:txBody>
      </p:sp>
      <p:sp>
        <p:nvSpPr>
          <p:cNvPr id="6" name="Shape 6"/>
          <p:cNvSpPr/>
          <p:nvPr/>
        </p:nvSpPr>
        <p:spPr>
          <a:xfrm>
            <a:off x="1524000" y="1066800"/>
            <a:ext cx="9144000" cy="723900"/>
          </a:xfrm>
          <a:prstGeom prst="roundRect">
            <a:avLst/>
          </a:prstGeom>
          <a:solidFill>
            <a:srgbClr val="A8C7F1"/>
          </a:solidFill>
          <a:ln w="12700">
            <a:solidFill>
              <a:srgbClr val="C6DAF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900" b="1">
                <a:solidFill>
                  <a:srgbClr val="111827"/>
                </a:solidFill>
                <a:latin typeface="Aptos"/>
              </a:rPr>
              <a:t>PRESENTATION LAYER</a:t>
            </a:r>
          </a:p>
          <a:p>
            <a:pPr algn="ctr"/>
            <a:r>
              <a:rPr lang="en-US" sz="1900" b="1">
                <a:solidFill>
                  <a:srgbClr val="111827"/>
                </a:solidFill>
                <a:latin typeface="Aptos"/>
              </a:rPr>
              <a:t>React + TypeScript (Vite) hosted on Vercel CDN</a:t>
            </a:r>
          </a:p>
        </p:txBody>
      </p:sp>
      <p:sp>
        <p:nvSpPr>
          <p:cNvPr id="7" name="Connector 7"/>
          <p:cNvSpPr/>
          <p:nvPr/>
        </p:nvSpPr>
        <p:spPr>
          <a:xfrm>
            <a:off x="6096000" y="1790700"/>
            <a:ext cx="9525" cy="44767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8" name="Shape 8"/>
          <p:cNvSpPr/>
          <p:nvPr/>
        </p:nvSpPr>
        <p:spPr>
          <a:xfrm>
            <a:off x="6334125" y="1943100"/>
            <a:ext cx="1619250" cy="238125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REST + JWT Auth</a:t>
            </a:r>
          </a:p>
        </p:txBody>
      </p:sp>
      <p:sp>
        <p:nvSpPr>
          <p:cNvPr id="9" name="Shape 9"/>
          <p:cNvSpPr/>
          <p:nvPr/>
        </p:nvSpPr>
        <p:spPr>
          <a:xfrm>
            <a:off x="1524000" y="2266950"/>
            <a:ext cx="9144000" cy="1295400"/>
          </a:xfrm>
          <a:prstGeom prst="roundRect">
            <a:avLst/>
          </a:prstGeom>
          <a:solidFill>
            <a:srgbClr val="8CCBBE"/>
          </a:solidFill>
          <a:ln w="12700">
            <a:solidFill>
              <a:srgbClr val="BBE3D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APPLICATION LAYER</a:t>
            </a:r>
          </a:p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FastAPI Python 3.11 | Docker | Azure Container Apps</a:t>
            </a:r>
          </a:p>
        </p:txBody>
      </p:sp>
      <p:sp>
        <p:nvSpPr>
          <p:cNvPr id="10" name="Shape 10"/>
          <p:cNvSpPr/>
          <p:nvPr/>
        </p:nvSpPr>
        <p:spPr>
          <a:xfrm>
            <a:off x="1762125" y="2990850"/>
            <a:ext cx="1857375" cy="419100"/>
          </a:xfrm>
          <a:prstGeom prst="roundRect">
            <a:avLst/>
          </a:prstGeom>
          <a:solidFill>
            <a:srgbClr val="BFE5DE"/>
          </a:solidFill>
          <a:ln w="12700">
            <a:solidFill>
              <a:srgbClr val="5E8D8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111827"/>
                </a:solidFill>
                <a:latin typeface="Aptos"/>
              </a:rPr>
              <a:t>routers/</a:t>
            </a:r>
          </a:p>
        </p:txBody>
      </p:sp>
      <p:sp>
        <p:nvSpPr>
          <p:cNvPr id="11" name="Shape 11"/>
          <p:cNvSpPr/>
          <p:nvPr/>
        </p:nvSpPr>
        <p:spPr>
          <a:xfrm>
            <a:off x="3857625" y="2990850"/>
            <a:ext cx="1857375" cy="419100"/>
          </a:xfrm>
          <a:prstGeom prst="roundRect">
            <a:avLst/>
          </a:prstGeom>
          <a:solidFill>
            <a:srgbClr val="BFE5DE"/>
          </a:solidFill>
          <a:ln w="12700">
            <a:solidFill>
              <a:srgbClr val="5E8D8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111827"/>
                </a:solidFill>
                <a:latin typeface="Aptos"/>
              </a:rPr>
              <a:t>services/</a:t>
            </a:r>
          </a:p>
        </p:txBody>
      </p:sp>
      <p:sp>
        <p:nvSpPr>
          <p:cNvPr id="12" name="Shape 12"/>
          <p:cNvSpPr/>
          <p:nvPr/>
        </p:nvSpPr>
        <p:spPr>
          <a:xfrm>
            <a:off x="5953125" y="2990850"/>
            <a:ext cx="1857375" cy="419100"/>
          </a:xfrm>
          <a:prstGeom prst="roundRect">
            <a:avLst/>
          </a:prstGeom>
          <a:solidFill>
            <a:srgbClr val="BFE5DE"/>
          </a:solidFill>
          <a:ln w="12700">
            <a:solidFill>
              <a:srgbClr val="5E8D8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111827"/>
                </a:solidFill>
                <a:latin typeface="Aptos"/>
              </a:rPr>
              <a:t>models.py</a:t>
            </a:r>
          </a:p>
        </p:txBody>
      </p:sp>
      <p:sp>
        <p:nvSpPr>
          <p:cNvPr id="13" name="Shape 13"/>
          <p:cNvSpPr/>
          <p:nvPr/>
        </p:nvSpPr>
        <p:spPr>
          <a:xfrm>
            <a:off x="8048625" y="2990850"/>
            <a:ext cx="1857375" cy="419100"/>
          </a:xfrm>
          <a:prstGeom prst="roundRect">
            <a:avLst/>
          </a:prstGeom>
          <a:solidFill>
            <a:srgbClr val="BFE5DE"/>
          </a:solidFill>
          <a:ln w="12700">
            <a:solidFill>
              <a:srgbClr val="5E8D8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111827"/>
                </a:solidFill>
                <a:latin typeface="Aptos"/>
              </a:rPr>
              <a:t>alembic/</a:t>
            </a:r>
          </a:p>
        </p:txBody>
      </p:sp>
      <p:sp>
        <p:nvSpPr>
          <p:cNvPr id="14" name="Connector 14"/>
          <p:cNvSpPr/>
          <p:nvPr/>
        </p:nvSpPr>
        <p:spPr>
          <a:xfrm>
            <a:off x="2857500" y="3562350"/>
            <a:ext cx="9525" cy="60007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15" name="Shape 15"/>
          <p:cNvSpPr/>
          <p:nvPr/>
        </p:nvSpPr>
        <p:spPr>
          <a:xfrm>
            <a:off x="1857375" y="3752850"/>
            <a:ext cx="2000250" cy="2857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SQL / SQLAlchemy ORM</a:t>
            </a:r>
          </a:p>
        </p:txBody>
      </p:sp>
      <p:sp>
        <p:nvSpPr>
          <p:cNvPr id="16" name="Connector 16"/>
          <p:cNvSpPr/>
          <p:nvPr/>
        </p:nvSpPr>
        <p:spPr>
          <a:xfrm>
            <a:off x="6096000" y="3562350"/>
            <a:ext cx="9525" cy="60007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17" name="Shape 17"/>
          <p:cNvSpPr/>
          <p:nvPr/>
        </p:nvSpPr>
        <p:spPr>
          <a:xfrm>
            <a:off x="4857750" y="3752850"/>
            <a:ext cx="2476500" cy="2857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PDF Upload / Download</a:t>
            </a:r>
          </a:p>
        </p:txBody>
      </p:sp>
      <p:sp>
        <p:nvSpPr>
          <p:cNvPr id="18" name="Connector 18"/>
          <p:cNvSpPr/>
          <p:nvPr/>
        </p:nvSpPr>
        <p:spPr>
          <a:xfrm>
            <a:off x="9620250" y="3562350"/>
            <a:ext cx="9525" cy="60007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19" name="Shape 19"/>
          <p:cNvSpPr/>
          <p:nvPr/>
        </p:nvSpPr>
        <p:spPr>
          <a:xfrm>
            <a:off x="8143875" y="3676650"/>
            <a:ext cx="2571750" cy="4572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Structured Prompt /</a:t>
            </a:r>
          </a:p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JSON Response</a:t>
            </a:r>
          </a:p>
        </p:txBody>
      </p:sp>
      <p:sp>
        <p:nvSpPr>
          <p:cNvPr id="20" name="Connector 20"/>
          <p:cNvSpPr/>
          <p:nvPr/>
        </p:nvSpPr>
        <p:spPr>
          <a:xfrm>
            <a:off x="10429875" y="3562350"/>
            <a:ext cx="9525" cy="60007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21" name="Shape 21"/>
          <p:cNvSpPr/>
          <p:nvPr/>
        </p:nvSpPr>
        <p:spPr>
          <a:xfrm>
            <a:off x="10572750" y="3790950"/>
            <a:ext cx="1381125" cy="2667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Aptos"/>
              </a:rPr>
              <a:t>Email Dispatch</a:t>
            </a:r>
          </a:p>
        </p:txBody>
      </p:sp>
      <p:sp>
        <p:nvSpPr>
          <p:cNvPr id="22" name="Shape 22"/>
          <p:cNvSpPr/>
          <p:nvPr/>
        </p:nvSpPr>
        <p:spPr>
          <a:xfrm>
            <a:off x="1524000" y="4162425"/>
            <a:ext cx="6019800" cy="1047750"/>
          </a:xfrm>
          <a:prstGeom prst="roundRect">
            <a:avLst/>
          </a:prstGeom>
          <a:solidFill>
            <a:srgbClr val="F4D377"/>
          </a:solidFill>
          <a:ln w="12700">
            <a:solidFill>
              <a:srgbClr val="FFE9A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DATA LAYER</a:t>
            </a:r>
          </a:p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Neon PostgreSQL             UploadThing CDN</a:t>
            </a:r>
          </a:p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(us-east-1)                 (Resume PDF Storage)</a:t>
            </a:r>
          </a:p>
        </p:txBody>
      </p:sp>
      <p:sp>
        <p:nvSpPr>
          <p:cNvPr id="23" name="Shape 23"/>
          <p:cNvSpPr/>
          <p:nvPr/>
        </p:nvSpPr>
        <p:spPr>
          <a:xfrm>
            <a:off x="7905750" y="4162425"/>
            <a:ext cx="3771900" cy="1047750"/>
          </a:xfrm>
          <a:prstGeom prst="roundRect">
            <a:avLst/>
          </a:prstGeom>
          <a:solidFill>
            <a:srgbClr val="D4D4D4"/>
          </a:solidFill>
          <a:ln w="12700">
            <a:solidFill>
              <a:srgbClr val="F0F0F0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EXTERNAL SERVICES</a:t>
            </a:r>
          </a:p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LLM API (OpenAI)</a:t>
            </a:r>
          </a:p>
          <a:p>
            <a:pPr algn="ctr"/>
            <a:r>
              <a:rPr lang="en-US" sz="1800" b="1">
                <a:solidFill>
                  <a:srgbClr val="111827"/>
                </a:solidFill>
                <a:latin typeface="Aptos"/>
              </a:rPr>
              <a:t>SMTP Email Gateway</a:t>
            </a:r>
          </a:p>
        </p:txBody>
      </p:sp>
      <p:sp>
        <p:nvSpPr>
          <p:cNvPr id="24" name="Shape 24"/>
          <p:cNvSpPr/>
          <p:nvPr/>
        </p:nvSpPr>
        <p:spPr>
          <a:xfrm>
            <a:off x="409575" y="2543175"/>
            <a:ext cx="1143000" cy="6286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Aptos"/>
              </a:rPr>
              <a:t>GitHub</a:t>
            </a:r>
          </a:p>
          <a:p>
            <a:pPr algn="ctr"/>
            <a:r>
              <a:rPr lang="en-US" sz="1700">
                <a:solidFill>
                  <a:srgbClr val="FFFFFF"/>
                </a:solidFill>
                <a:latin typeface="Aptos"/>
              </a:rPr>
              <a:t>Actions</a:t>
            </a:r>
          </a:p>
          <a:p>
            <a:pPr algn="ctr"/>
            <a:r>
              <a:rPr lang="en-US" sz="1700">
                <a:solidFill>
                  <a:srgbClr val="FFFFFF"/>
                </a:solidFill>
                <a:latin typeface="Aptos"/>
              </a:rPr>
              <a:t>CI/CD</a:t>
            </a:r>
          </a:p>
        </p:txBody>
      </p:sp>
      <p:sp>
        <p:nvSpPr>
          <p:cNvPr id="25" name="Connector 25"/>
          <p:cNvSpPr/>
          <p:nvPr/>
        </p:nvSpPr>
        <p:spPr>
          <a:xfrm>
            <a:off x="1066800" y="2895600"/>
            <a:ext cx="457200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26" name="Connector 26"/>
          <p:cNvSpPr/>
          <p:nvPr/>
        </p:nvSpPr>
        <p:spPr>
          <a:xfrm>
            <a:off x="1066800" y="1409700"/>
            <a:ext cx="457200" cy="9525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27" name="Connector 27"/>
          <p:cNvSpPr/>
          <p:nvPr/>
        </p:nvSpPr>
        <p:spPr>
          <a:xfrm>
            <a:off x="1066800" y="1409700"/>
            <a:ext cx="9525" cy="3324225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28" name="Connector 28"/>
          <p:cNvSpPr/>
          <p:nvPr/>
        </p:nvSpPr>
        <p:spPr>
          <a:xfrm>
            <a:off x="1066800" y="4733925"/>
            <a:ext cx="457200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286000" y="323850"/>
            <a:ext cx="7620000" cy="4762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3100">
                <a:solidFill>
                  <a:srgbClr val="FFFFFF"/>
                </a:solidFill>
                <a:latin typeface="Aptos"/>
              </a:rPr>
              <a:t>UML Class Diagram - Hiring Co-Pilot</a:t>
            </a:r>
          </a:p>
        </p:txBody>
      </p:sp>
      <p:sp>
        <p:nvSpPr>
          <p:cNvPr id="3" name="Shape 3"/>
          <p:cNvSpPr/>
          <p:nvPr/>
        </p:nvSpPr>
        <p:spPr>
          <a:xfrm>
            <a:off x="666750" y="1066800"/>
            <a:ext cx="1666875" cy="1762125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4" name="Shape 4"/>
          <p:cNvSpPr/>
          <p:nvPr/>
        </p:nvSpPr>
        <p:spPr>
          <a:xfrm>
            <a:off x="666750" y="1066800"/>
            <a:ext cx="1666875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User</a:t>
            </a:r>
          </a:p>
        </p:txBody>
      </p:sp>
      <p:sp>
        <p:nvSpPr>
          <p:cNvPr id="5" name="Shape 5"/>
          <p:cNvSpPr/>
          <p:nvPr/>
        </p:nvSpPr>
        <p:spPr>
          <a:xfrm>
            <a:off x="742950" y="1409700"/>
            <a:ext cx="1514475" cy="1076325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name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email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role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is_active</a:t>
            </a:r>
          </a:p>
        </p:txBody>
      </p:sp>
      <p:sp>
        <p:nvSpPr>
          <p:cNvPr id="6" name="Connector 6"/>
          <p:cNvSpPr/>
          <p:nvPr/>
        </p:nvSpPr>
        <p:spPr>
          <a:xfrm>
            <a:off x="666750" y="2305050"/>
            <a:ext cx="1666875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7" name="Shape 7"/>
          <p:cNvSpPr/>
          <p:nvPr/>
        </p:nvSpPr>
        <p:spPr>
          <a:xfrm>
            <a:off x="742950" y="2352675"/>
            <a:ext cx="1514475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login()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logout()</a:t>
            </a:r>
          </a:p>
        </p:txBody>
      </p:sp>
      <p:sp>
        <p:nvSpPr>
          <p:cNvPr id="8" name="Shape 8"/>
          <p:cNvSpPr/>
          <p:nvPr/>
        </p:nvSpPr>
        <p:spPr>
          <a:xfrm>
            <a:off x="3667125" y="1066800"/>
            <a:ext cx="1619250" cy="1733550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9" name="Shape 9"/>
          <p:cNvSpPr/>
          <p:nvPr/>
        </p:nvSpPr>
        <p:spPr>
          <a:xfrm>
            <a:off x="3667125" y="1066800"/>
            <a:ext cx="1619250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Job</a:t>
            </a:r>
          </a:p>
        </p:txBody>
      </p:sp>
      <p:sp>
        <p:nvSpPr>
          <p:cNvPr id="10" name="Shape 10"/>
          <p:cNvSpPr/>
          <p:nvPr/>
        </p:nvSpPr>
        <p:spPr>
          <a:xfrm>
            <a:off x="3743325" y="1409700"/>
            <a:ext cx="1466850" cy="10477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title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department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status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created_by</a:t>
            </a:r>
          </a:p>
        </p:txBody>
      </p:sp>
      <p:sp>
        <p:nvSpPr>
          <p:cNvPr id="11" name="Connector 11"/>
          <p:cNvSpPr/>
          <p:nvPr/>
        </p:nvSpPr>
        <p:spPr>
          <a:xfrm>
            <a:off x="3667125" y="2276475"/>
            <a:ext cx="1619250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743325" y="2324100"/>
            <a:ext cx="1466850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create()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publish()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archive()</a:t>
            </a:r>
          </a:p>
        </p:txBody>
      </p:sp>
      <p:sp>
        <p:nvSpPr>
          <p:cNvPr id="13" name="Shape 13"/>
          <p:cNvSpPr/>
          <p:nvPr/>
        </p:nvSpPr>
        <p:spPr>
          <a:xfrm>
            <a:off x="6715125" y="1066800"/>
            <a:ext cx="1619250" cy="1905000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715125" y="1066800"/>
            <a:ext cx="1619250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Candidate</a:t>
            </a:r>
          </a:p>
        </p:txBody>
      </p:sp>
      <p:sp>
        <p:nvSpPr>
          <p:cNvPr id="15" name="Shape 15"/>
          <p:cNvSpPr/>
          <p:nvPr/>
        </p:nvSpPr>
        <p:spPr>
          <a:xfrm>
            <a:off x="6791325" y="1409700"/>
            <a:ext cx="1466850" cy="12192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name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email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resume_url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job_id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6" name="Connector 16"/>
          <p:cNvSpPr/>
          <p:nvPr/>
        </p:nvSpPr>
        <p:spPr>
          <a:xfrm>
            <a:off x="6715125" y="2447925"/>
            <a:ext cx="1619250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791325" y="2495550"/>
            <a:ext cx="1466850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updateStatus()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getInsights()</a:t>
            </a:r>
          </a:p>
        </p:txBody>
      </p:sp>
      <p:sp>
        <p:nvSpPr>
          <p:cNvPr id="18" name="Shape 18"/>
          <p:cNvSpPr/>
          <p:nvPr/>
        </p:nvSpPr>
        <p:spPr>
          <a:xfrm>
            <a:off x="9525000" y="981075"/>
            <a:ext cx="1857375" cy="2076450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525000" y="981075"/>
            <a:ext cx="1857375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CandidateInsights</a:t>
            </a:r>
          </a:p>
        </p:txBody>
      </p:sp>
      <p:sp>
        <p:nvSpPr>
          <p:cNvPr id="20" name="Shape 20"/>
          <p:cNvSpPr/>
          <p:nvPr/>
        </p:nvSpPr>
        <p:spPr>
          <a:xfrm>
            <a:off x="9601200" y="1323975"/>
            <a:ext cx="1704975" cy="13906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candidate_id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job_id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technical_score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experience_score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communication_score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cultural_fit_score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overall_score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summary</a:t>
            </a:r>
          </a:p>
        </p:txBody>
      </p:sp>
      <p:sp>
        <p:nvSpPr>
          <p:cNvPr id="21" name="Connector 21"/>
          <p:cNvSpPr/>
          <p:nvPr/>
        </p:nvSpPr>
        <p:spPr>
          <a:xfrm>
            <a:off x="9525000" y="2533650"/>
            <a:ext cx="1857375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22" name="Shape 22"/>
          <p:cNvSpPr/>
          <p:nvPr/>
        </p:nvSpPr>
        <p:spPr>
          <a:xfrm>
            <a:off x="9601200" y="2581275"/>
            <a:ext cx="1704975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generate()</a:t>
            </a:r>
          </a:p>
        </p:txBody>
      </p:sp>
      <p:sp>
        <p:nvSpPr>
          <p:cNvPr id="23" name="Shape 23"/>
          <p:cNvSpPr/>
          <p:nvPr/>
        </p:nvSpPr>
        <p:spPr>
          <a:xfrm>
            <a:off x="3667125" y="3371850"/>
            <a:ext cx="1619250" cy="1638300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24" name="Shape 24"/>
          <p:cNvSpPr/>
          <p:nvPr/>
        </p:nvSpPr>
        <p:spPr>
          <a:xfrm>
            <a:off x="3667125" y="3371850"/>
            <a:ext cx="1619250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Interview</a:t>
            </a:r>
          </a:p>
        </p:txBody>
      </p:sp>
      <p:sp>
        <p:nvSpPr>
          <p:cNvPr id="25" name="Shape 25"/>
          <p:cNvSpPr/>
          <p:nvPr/>
        </p:nvSpPr>
        <p:spPr>
          <a:xfrm>
            <a:off x="3743325" y="3714750"/>
            <a:ext cx="1466850" cy="9525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candidate_id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interviewer_id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round_number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scheduled_at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6" name="Connector 26"/>
          <p:cNvSpPr/>
          <p:nvPr/>
        </p:nvSpPr>
        <p:spPr>
          <a:xfrm>
            <a:off x="3667125" y="4486275"/>
            <a:ext cx="1619250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27" name="Shape 27"/>
          <p:cNvSpPr/>
          <p:nvPr/>
        </p:nvSpPr>
        <p:spPr>
          <a:xfrm>
            <a:off x="3743325" y="4533900"/>
            <a:ext cx="1466850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schedule()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submitFeedback()</a:t>
            </a:r>
          </a:p>
        </p:txBody>
      </p:sp>
      <p:sp>
        <p:nvSpPr>
          <p:cNvPr id="28" name="Shape 28"/>
          <p:cNvSpPr/>
          <p:nvPr/>
        </p:nvSpPr>
        <p:spPr>
          <a:xfrm>
            <a:off x="6715125" y="3371850"/>
            <a:ext cx="1619250" cy="1657350"/>
          </a:xfrm>
          <a:prstGeom prst="rect">
            <a:avLst/>
          </a:prstGeom>
          <a:solidFill>
            <a:srgbClr val="2F3338"/>
          </a:solidFill>
          <a:ln w="12700">
            <a:solidFill>
              <a:srgbClr val="8FB3E8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715125" y="3371850"/>
            <a:ext cx="1619250" cy="295275"/>
          </a:xfrm>
          <a:prstGeom prst="rect">
            <a:avLst/>
          </a:prstGeom>
          <a:solidFill>
            <a:srgbClr val="9FC3F8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</a:rPr>
              <a:t>Communication</a:t>
            </a:r>
          </a:p>
        </p:txBody>
      </p:sp>
      <p:sp>
        <p:nvSpPr>
          <p:cNvPr id="30" name="Shape 30"/>
          <p:cNvSpPr/>
          <p:nvPr/>
        </p:nvSpPr>
        <p:spPr>
          <a:xfrm>
            <a:off x="6791325" y="3714750"/>
            <a:ext cx="1466850" cy="971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candidate_id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type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subject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body</a:t>
            </a:r>
          </a:p>
        </p:txBody>
      </p:sp>
      <p:sp>
        <p:nvSpPr>
          <p:cNvPr id="31" name="Connector 31"/>
          <p:cNvSpPr/>
          <p:nvPr/>
        </p:nvSpPr>
        <p:spPr>
          <a:xfrm>
            <a:off x="6715125" y="4505325"/>
            <a:ext cx="1619250" cy="9525"/>
          </a:xfrm>
          <a:prstGeom prst="line">
            <a:avLst/>
          </a:prstGeom>
          <a:ln w="9525">
            <a:solidFill>
              <a:srgbClr val="8FB3E8"/>
            </a:solidFill>
          </a:ln>
        </p:spPr>
      </p:sp>
      <p:sp>
        <p:nvSpPr>
          <p:cNvPr id="32" name="Shape 32"/>
          <p:cNvSpPr/>
          <p:nvPr/>
        </p:nvSpPr>
        <p:spPr>
          <a:xfrm>
            <a:off x="6791325" y="4552950"/>
            <a:ext cx="1466850" cy="4191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send()</a:t>
            </a:r>
          </a:p>
          <a:p>
            <a:pPr algn="l"/>
            <a:r>
              <a:rPr lang="en-US" sz="1200">
                <a:solidFill>
                  <a:srgbClr val="FFFFFF"/>
                </a:solidFill>
                <a:latin typeface="Aptos"/>
              </a:rPr>
              <a:t>getHistory()</a:t>
            </a:r>
          </a:p>
        </p:txBody>
      </p:sp>
      <p:sp>
        <p:nvSpPr>
          <p:cNvPr id="33" name="Connector 33"/>
          <p:cNvSpPr/>
          <p:nvPr/>
        </p:nvSpPr>
        <p:spPr>
          <a:xfrm>
            <a:off x="2333625" y="1924050"/>
            <a:ext cx="1333500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34" name="Shape 34"/>
          <p:cNvSpPr/>
          <p:nvPr/>
        </p:nvSpPr>
        <p:spPr>
          <a:xfrm>
            <a:off x="2590800" y="1733550"/>
            <a:ext cx="704850" cy="2476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creates</a:t>
            </a:r>
          </a:p>
        </p:txBody>
      </p:sp>
      <p:sp>
        <p:nvSpPr>
          <p:cNvPr id="35" name="Shape 35"/>
          <p:cNvSpPr/>
          <p:nvPr/>
        </p:nvSpPr>
        <p:spPr>
          <a:xfrm>
            <a:off x="2457450" y="1971675"/>
            <a:ext cx="47625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  <p:sp>
        <p:nvSpPr>
          <p:cNvPr id="36" name="Shape 36"/>
          <p:cNvSpPr/>
          <p:nvPr/>
        </p:nvSpPr>
        <p:spPr>
          <a:xfrm>
            <a:off x="2390775" y="1695450"/>
            <a:ext cx="20955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Connector 37"/>
          <p:cNvSpPr/>
          <p:nvPr/>
        </p:nvSpPr>
        <p:spPr>
          <a:xfrm>
            <a:off x="5286375" y="1924050"/>
            <a:ext cx="1428750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38" name="Shape 38"/>
          <p:cNvSpPr/>
          <p:nvPr/>
        </p:nvSpPr>
        <p:spPr>
          <a:xfrm>
            <a:off x="5572125" y="1733550"/>
            <a:ext cx="800100" cy="2476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receives</a:t>
            </a:r>
          </a:p>
        </p:txBody>
      </p:sp>
      <p:sp>
        <p:nvSpPr>
          <p:cNvPr id="39" name="Shape 39"/>
          <p:cNvSpPr/>
          <p:nvPr/>
        </p:nvSpPr>
        <p:spPr>
          <a:xfrm>
            <a:off x="6429375" y="1971675"/>
            <a:ext cx="41910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  <p:sp>
        <p:nvSpPr>
          <p:cNvPr id="40" name="Shape 40"/>
          <p:cNvSpPr/>
          <p:nvPr/>
        </p:nvSpPr>
        <p:spPr>
          <a:xfrm>
            <a:off x="5381625" y="1695450"/>
            <a:ext cx="20955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Connector 41"/>
          <p:cNvSpPr/>
          <p:nvPr/>
        </p:nvSpPr>
        <p:spPr>
          <a:xfrm>
            <a:off x="8334375" y="1971675"/>
            <a:ext cx="1190625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42" name="Shape 42"/>
          <p:cNvSpPr/>
          <p:nvPr/>
        </p:nvSpPr>
        <p:spPr>
          <a:xfrm>
            <a:off x="8667750" y="1762125"/>
            <a:ext cx="428625" cy="2476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has</a:t>
            </a:r>
          </a:p>
        </p:txBody>
      </p:sp>
      <p:sp>
        <p:nvSpPr>
          <p:cNvPr id="43" name="Shape 43"/>
          <p:cNvSpPr/>
          <p:nvPr/>
        </p:nvSpPr>
        <p:spPr>
          <a:xfrm>
            <a:off x="9210675" y="2028825"/>
            <a:ext cx="41910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  <p:sp>
        <p:nvSpPr>
          <p:cNvPr id="44" name="Shape 44"/>
          <p:cNvSpPr/>
          <p:nvPr/>
        </p:nvSpPr>
        <p:spPr>
          <a:xfrm>
            <a:off x="8410575" y="1752600"/>
            <a:ext cx="20955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5" name="Connector 45"/>
          <p:cNvSpPr/>
          <p:nvPr/>
        </p:nvSpPr>
        <p:spPr>
          <a:xfrm>
            <a:off x="1524000" y="2828925"/>
            <a:ext cx="9525" cy="1285875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46" name="Connector 46"/>
          <p:cNvSpPr/>
          <p:nvPr/>
        </p:nvSpPr>
        <p:spPr>
          <a:xfrm>
            <a:off x="1524000" y="4114800"/>
            <a:ext cx="2143125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47" name="Shape 47"/>
          <p:cNvSpPr/>
          <p:nvPr/>
        </p:nvSpPr>
        <p:spPr>
          <a:xfrm>
            <a:off x="2571750" y="3876675"/>
            <a:ext cx="857250" cy="2286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conducts</a:t>
            </a:r>
          </a:p>
        </p:txBody>
      </p:sp>
      <p:sp>
        <p:nvSpPr>
          <p:cNvPr id="48" name="Shape 48"/>
          <p:cNvSpPr/>
          <p:nvPr/>
        </p:nvSpPr>
        <p:spPr>
          <a:xfrm>
            <a:off x="3333750" y="4162425"/>
            <a:ext cx="41910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  <p:sp>
        <p:nvSpPr>
          <p:cNvPr id="49" name="Shape 49"/>
          <p:cNvSpPr/>
          <p:nvPr/>
        </p:nvSpPr>
        <p:spPr>
          <a:xfrm>
            <a:off x="1466850" y="2876550"/>
            <a:ext cx="20955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0" name="Connector 50"/>
          <p:cNvSpPr/>
          <p:nvPr/>
        </p:nvSpPr>
        <p:spPr>
          <a:xfrm>
            <a:off x="5286375" y="4191000"/>
            <a:ext cx="857250" cy="9525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51" name="Connector 51"/>
          <p:cNvSpPr/>
          <p:nvPr/>
        </p:nvSpPr>
        <p:spPr>
          <a:xfrm flipV="1">
            <a:off x="6143625" y="2971800"/>
            <a:ext cx="9525" cy="1219200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52" name="Connector 52"/>
          <p:cNvSpPr/>
          <p:nvPr/>
        </p:nvSpPr>
        <p:spPr>
          <a:xfrm>
            <a:off x="6143625" y="2971800"/>
            <a:ext cx="571500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53" name="Shape 53"/>
          <p:cNvSpPr/>
          <p:nvPr/>
        </p:nvSpPr>
        <p:spPr>
          <a:xfrm>
            <a:off x="5743575" y="2838450"/>
            <a:ext cx="742950" cy="2286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attends</a:t>
            </a:r>
          </a:p>
        </p:txBody>
      </p:sp>
      <p:sp>
        <p:nvSpPr>
          <p:cNvPr id="54" name="Shape 54"/>
          <p:cNvSpPr/>
          <p:nvPr/>
        </p:nvSpPr>
        <p:spPr>
          <a:xfrm>
            <a:off x="6334125" y="3009900"/>
            <a:ext cx="41910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  <p:sp>
        <p:nvSpPr>
          <p:cNvPr id="55" name="Connector 55"/>
          <p:cNvSpPr/>
          <p:nvPr/>
        </p:nvSpPr>
        <p:spPr>
          <a:xfrm>
            <a:off x="8334375" y="4191000"/>
            <a:ext cx="904875" cy="9525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56" name="Connector 56"/>
          <p:cNvSpPr/>
          <p:nvPr/>
        </p:nvSpPr>
        <p:spPr>
          <a:xfrm flipV="1">
            <a:off x="9239250" y="2743200"/>
            <a:ext cx="9525" cy="1447800"/>
          </a:xfrm>
          <a:prstGeom prst="line">
            <a:avLst/>
          </a:prstGeom>
          <a:ln w="19050">
            <a:solidFill>
              <a:srgbClr val="E7EDF7"/>
            </a:solidFill>
          </a:ln>
        </p:spPr>
      </p:sp>
      <p:sp>
        <p:nvSpPr>
          <p:cNvPr id="57" name="Connector 57"/>
          <p:cNvSpPr/>
          <p:nvPr/>
        </p:nvSpPr>
        <p:spPr>
          <a:xfrm flipH="1">
            <a:off x="8334375" y="2743200"/>
            <a:ext cx="904875" cy="9525"/>
          </a:xfrm>
          <a:prstGeom prst="line">
            <a:avLst/>
          </a:prstGeom>
          <a:ln w="19050">
            <a:solidFill>
              <a:srgbClr val="E7EDF7"/>
            </a:solidFill>
            <a:headEnd type="triangle"/>
          </a:ln>
        </p:spPr>
      </p:sp>
      <p:sp>
        <p:nvSpPr>
          <p:cNvPr id="58" name="Shape 58"/>
          <p:cNvSpPr/>
          <p:nvPr/>
        </p:nvSpPr>
        <p:spPr>
          <a:xfrm>
            <a:off x="9096375" y="3876675"/>
            <a:ext cx="857250" cy="2286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/>
              </a:rPr>
              <a:t>receives</a:t>
            </a:r>
          </a:p>
        </p:txBody>
      </p:sp>
      <p:sp>
        <p:nvSpPr>
          <p:cNvPr id="59" name="Shape 59"/>
          <p:cNvSpPr/>
          <p:nvPr/>
        </p:nvSpPr>
        <p:spPr>
          <a:xfrm>
            <a:off x="8401050" y="3990975"/>
            <a:ext cx="419100" cy="2095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0..*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61950" y="304800"/>
            <a:ext cx="8572500" cy="4762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latin typeface="Aptos"/>
              </a:rPr>
              <a:t>AI Insight Generation Flowchart - Hiring Co-Pilot</a:t>
            </a:r>
          </a:p>
        </p:txBody>
      </p:sp>
      <p:sp>
        <p:nvSpPr>
          <p:cNvPr id="3" name="Shape 3"/>
          <p:cNvSpPr/>
          <p:nvPr/>
        </p:nvSpPr>
        <p:spPr>
          <a:xfrm>
            <a:off x="5657850" y="762000"/>
            <a:ext cx="876300" cy="219075"/>
          </a:xfrm>
          <a:prstGeom prst="roundRect">
            <a:avLst/>
          </a:prstGeom>
          <a:solidFill>
            <a:srgbClr val="B7D7AA"/>
          </a:solidFill>
          <a:ln w="12700">
            <a:solidFill>
              <a:srgbClr val="F1E7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ptos"/>
              </a:rPr>
              <a:t>START</a:t>
            </a:r>
          </a:p>
        </p:txBody>
      </p:sp>
      <p:sp>
        <p:nvSpPr>
          <p:cNvPr id="4" name="Connector 4"/>
          <p:cNvSpPr/>
          <p:nvPr/>
        </p:nvSpPr>
        <p:spPr>
          <a:xfrm>
            <a:off x="6096000" y="98107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5" name="Shape 5"/>
          <p:cNvSpPr/>
          <p:nvPr/>
        </p:nvSpPr>
        <p:spPr>
          <a:xfrm>
            <a:off x="4762500" y="1076325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HR Admin clicks Generate Insights for a candidate</a:t>
            </a:r>
          </a:p>
        </p:txBody>
      </p:sp>
      <p:sp>
        <p:nvSpPr>
          <p:cNvPr id="6" name="Connector 6"/>
          <p:cNvSpPr/>
          <p:nvPr/>
        </p:nvSpPr>
        <p:spPr>
          <a:xfrm>
            <a:off x="6096000" y="129540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7" name="Shape 7"/>
          <p:cNvSpPr/>
          <p:nvPr/>
        </p:nvSpPr>
        <p:spPr>
          <a:xfrm>
            <a:off x="4762500" y="1390650"/>
            <a:ext cx="2667000" cy="342900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System retrieves resume URL and job</a:t>
            </a:r>
          </a:p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description from database</a:t>
            </a:r>
          </a:p>
        </p:txBody>
      </p:sp>
      <p:sp>
        <p:nvSpPr>
          <p:cNvPr id="8" name="Connector 8"/>
          <p:cNvSpPr/>
          <p:nvPr/>
        </p:nvSpPr>
        <p:spPr>
          <a:xfrm>
            <a:off x="6096000" y="173355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9" name="Decision 9"/>
          <p:cNvSpPr/>
          <p:nvPr/>
        </p:nvSpPr>
        <p:spPr>
          <a:xfrm>
            <a:off x="5143500" y="1828800"/>
            <a:ext cx="1905000" cy="342900"/>
          </a:xfrm>
          <a:prstGeom prst="diamond">
            <a:avLst/>
          </a:prstGeom>
          <a:solidFill>
            <a:srgbClr val="FFE1B5"/>
          </a:solidFill>
          <a:ln w="12700">
            <a:solidFill>
              <a:srgbClr val="F0B26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111827"/>
                </a:solidFill>
                <a:latin typeface="Aptos"/>
              </a:rPr>
              <a:t>Is resume URL available?</a:t>
            </a:r>
          </a:p>
        </p:txBody>
      </p:sp>
      <p:sp>
        <p:nvSpPr>
          <p:cNvPr id="10" name="Connector 10"/>
          <p:cNvSpPr/>
          <p:nvPr/>
        </p:nvSpPr>
        <p:spPr>
          <a:xfrm>
            <a:off x="6096000" y="217170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11" name="Shape 11"/>
          <p:cNvSpPr/>
          <p:nvPr/>
        </p:nvSpPr>
        <p:spPr>
          <a:xfrm>
            <a:off x="4762500" y="2266950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Download PDF from UploadThing CDN</a:t>
            </a:r>
          </a:p>
        </p:txBody>
      </p:sp>
      <p:sp>
        <p:nvSpPr>
          <p:cNvPr id="12" name="Connector 12"/>
          <p:cNvSpPr/>
          <p:nvPr/>
        </p:nvSpPr>
        <p:spPr>
          <a:xfrm>
            <a:off x="6096000" y="248602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13" name="Shape 13"/>
          <p:cNvSpPr/>
          <p:nvPr/>
        </p:nvSpPr>
        <p:spPr>
          <a:xfrm>
            <a:off x="4762500" y="2581275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pdfplumber extracts text from PDF</a:t>
            </a:r>
          </a:p>
        </p:txBody>
      </p:sp>
      <p:sp>
        <p:nvSpPr>
          <p:cNvPr id="14" name="Connector 14"/>
          <p:cNvSpPr/>
          <p:nvPr/>
        </p:nvSpPr>
        <p:spPr>
          <a:xfrm>
            <a:off x="6096000" y="280035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15" name="Decision 15"/>
          <p:cNvSpPr/>
          <p:nvPr/>
        </p:nvSpPr>
        <p:spPr>
          <a:xfrm>
            <a:off x="5143500" y="2895600"/>
            <a:ext cx="1905000" cy="342900"/>
          </a:xfrm>
          <a:prstGeom prst="diamond">
            <a:avLst/>
          </a:prstGeom>
          <a:solidFill>
            <a:srgbClr val="FFE1B5"/>
          </a:solidFill>
          <a:ln w="12700">
            <a:solidFill>
              <a:srgbClr val="F0B26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111827"/>
                </a:solidFill>
                <a:latin typeface="Aptos"/>
              </a:rPr>
              <a:t>Is text extraction</a:t>
            </a:r>
          </a:p>
          <a:p>
            <a:pPr algn="ctr"/>
            <a:r>
              <a:rPr lang="en-US" sz="1000">
                <a:solidFill>
                  <a:srgbClr val="111827"/>
                </a:solidFill>
                <a:latin typeface="Aptos"/>
              </a:rPr>
              <a:t>successful?</a:t>
            </a:r>
          </a:p>
        </p:txBody>
      </p:sp>
      <p:sp>
        <p:nvSpPr>
          <p:cNvPr id="16" name="Connector 16"/>
          <p:cNvSpPr/>
          <p:nvPr/>
        </p:nvSpPr>
        <p:spPr>
          <a:xfrm>
            <a:off x="6096000" y="323850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17" name="Shape 17"/>
          <p:cNvSpPr/>
          <p:nvPr/>
        </p:nvSpPr>
        <p:spPr>
          <a:xfrm>
            <a:off x="4762500" y="3333750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Construct LLM prompt with resume text + job description</a:t>
            </a:r>
          </a:p>
        </p:txBody>
      </p:sp>
      <p:sp>
        <p:nvSpPr>
          <p:cNvPr id="18" name="Connector 18"/>
          <p:cNvSpPr/>
          <p:nvPr/>
        </p:nvSpPr>
        <p:spPr>
          <a:xfrm>
            <a:off x="6096000" y="355282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19" name="Shape 19"/>
          <p:cNvSpPr/>
          <p:nvPr/>
        </p:nvSpPr>
        <p:spPr>
          <a:xfrm>
            <a:off x="4762500" y="3648075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Call LLM API</a:t>
            </a:r>
          </a:p>
        </p:txBody>
      </p:sp>
      <p:sp>
        <p:nvSpPr>
          <p:cNvPr id="20" name="Connector 20"/>
          <p:cNvSpPr/>
          <p:nvPr/>
        </p:nvSpPr>
        <p:spPr>
          <a:xfrm>
            <a:off x="6096000" y="386715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21" name="Decision 21"/>
          <p:cNvSpPr/>
          <p:nvPr/>
        </p:nvSpPr>
        <p:spPr>
          <a:xfrm>
            <a:off x="5143500" y="3962400"/>
            <a:ext cx="1905000" cy="342900"/>
          </a:xfrm>
          <a:prstGeom prst="diamond">
            <a:avLst/>
          </a:prstGeom>
          <a:solidFill>
            <a:srgbClr val="FFE1B5"/>
          </a:solidFill>
          <a:ln w="12700">
            <a:solidFill>
              <a:srgbClr val="F0B26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111827"/>
                </a:solidFill>
                <a:latin typeface="Aptos"/>
              </a:rPr>
              <a:t>LLM response</a:t>
            </a:r>
          </a:p>
          <a:p>
            <a:pPr algn="ctr"/>
            <a:r>
              <a:rPr lang="en-US" sz="1000">
                <a:solidFill>
                  <a:srgbClr val="111827"/>
                </a:solidFill>
                <a:latin typeface="Aptos"/>
              </a:rPr>
              <a:t>received?</a:t>
            </a:r>
          </a:p>
        </p:txBody>
      </p:sp>
      <p:sp>
        <p:nvSpPr>
          <p:cNvPr id="22" name="Connector 22"/>
          <p:cNvSpPr/>
          <p:nvPr/>
        </p:nvSpPr>
        <p:spPr>
          <a:xfrm>
            <a:off x="6096000" y="430530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23" name="Shape 23"/>
          <p:cNvSpPr/>
          <p:nvPr/>
        </p:nvSpPr>
        <p:spPr>
          <a:xfrm>
            <a:off x="4762500" y="4400550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Parse JSON response - extract 5 scores and summary</a:t>
            </a:r>
          </a:p>
        </p:txBody>
      </p:sp>
      <p:sp>
        <p:nvSpPr>
          <p:cNvPr id="24" name="Connector 24"/>
          <p:cNvSpPr/>
          <p:nvPr/>
        </p:nvSpPr>
        <p:spPr>
          <a:xfrm>
            <a:off x="6096000" y="461962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25" name="Shape 25"/>
          <p:cNvSpPr/>
          <p:nvPr/>
        </p:nvSpPr>
        <p:spPr>
          <a:xfrm>
            <a:off x="4762500" y="4714875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Cast all scores to integer</a:t>
            </a:r>
          </a:p>
        </p:txBody>
      </p:sp>
      <p:sp>
        <p:nvSpPr>
          <p:cNvPr id="26" name="Connector 26"/>
          <p:cNvSpPr/>
          <p:nvPr/>
        </p:nvSpPr>
        <p:spPr>
          <a:xfrm>
            <a:off x="6096000" y="493395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27" name="Shape 27"/>
          <p:cNvSpPr/>
          <p:nvPr/>
        </p:nvSpPr>
        <p:spPr>
          <a:xfrm>
            <a:off x="4762500" y="5029200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Save CandidateInsights to PostgreSQL</a:t>
            </a:r>
          </a:p>
        </p:txBody>
      </p:sp>
      <p:sp>
        <p:nvSpPr>
          <p:cNvPr id="28" name="Connector 28"/>
          <p:cNvSpPr/>
          <p:nvPr/>
        </p:nvSpPr>
        <p:spPr>
          <a:xfrm>
            <a:off x="6096000" y="524827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29" name="Shape 29"/>
          <p:cNvSpPr/>
          <p:nvPr/>
        </p:nvSpPr>
        <p:spPr>
          <a:xfrm>
            <a:off x="4762500" y="5343525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Return insight data to frontend</a:t>
            </a:r>
          </a:p>
        </p:txBody>
      </p:sp>
      <p:sp>
        <p:nvSpPr>
          <p:cNvPr id="30" name="Connector 30"/>
          <p:cNvSpPr/>
          <p:nvPr/>
        </p:nvSpPr>
        <p:spPr>
          <a:xfrm>
            <a:off x="6096000" y="5562600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31" name="Shape 31"/>
          <p:cNvSpPr/>
          <p:nvPr/>
        </p:nvSpPr>
        <p:spPr>
          <a:xfrm>
            <a:off x="4762500" y="5657850"/>
            <a:ext cx="2667000" cy="219075"/>
          </a:xfrm>
          <a:prstGeom prst="roundRect">
            <a:avLst/>
          </a:prstGeom>
          <a:solidFill>
            <a:srgbClr val="CFE1FF"/>
          </a:solidFill>
          <a:ln w="12700">
            <a:solidFill>
              <a:srgbClr val="9AB7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Display score bars and summary</a:t>
            </a:r>
          </a:p>
        </p:txBody>
      </p:sp>
      <p:sp>
        <p:nvSpPr>
          <p:cNvPr id="32" name="Connector 32"/>
          <p:cNvSpPr/>
          <p:nvPr/>
        </p:nvSpPr>
        <p:spPr>
          <a:xfrm>
            <a:off x="6096000" y="5876925"/>
            <a:ext cx="9525" cy="95250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33" name="Shape 33"/>
          <p:cNvSpPr/>
          <p:nvPr/>
        </p:nvSpPr>
        <p:spPr>
          <a:xfrm>
            <a:off x="5657850" y="5972175"/>
            <a:ext cx="876300" cy="219075"/>
          </a:xfrm>
          <a:prstGeom prst="roundRect">
            <a:avLst/>
          </a:prstGeom>
          <a:solidFill>
            <a:srgbClr val="F6B7AE"/>
          </a:solidFill>
          <a:ln w="12700">
            <a:solidFill>
              <a:srgbClr val="F1E7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ptos"/>
              </a:rPr>
              <a:t>END</a:t>
            </a:r>
          </a:p>
        </p:txBody>
      </p:sp>
      <p:sp>
        <p:nvSpPr>
          <p:cNvPr id="34" name="Connector 34"/>
          <p:cNvSpPr/>
          <p:nvPr/>
        </p:nvSpPr>
        <p:spPr>
          <a:xfrm>
            <a:off x="7048500" y="2000250"/>
            <a:ext cx="10477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35" name="Shape 35"/>
          <p:cNvSpPr/>
          <p:nvPr/>
        </p:nvSpPr>
        <p:spPr>
          <a:xfrm>
            <a:off x="7162800" y="1819275"/>
            <a:ext cx="266700" cy="1524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/>
              </a:rPr>
              <a:t>NO</a:t>
            </a:r>
          </a:p>
        </p:txBody>
      </p:sp>
      <p:sp>
        <p:nvSpPr>
          <p:cNvPr id="36" name="Shape 36"/>
          <p:cNvSpPr/>
          <p:nvPr/>
        </p:nvSpPr>
        <p:spPr>
          <a:xfrm>
            <a:off x="8096250" y="1828800"/>
            <a:ext cx="1466850" cy="342900"/>
          </a:xfrm>
          <a:prstGeom prst="roundRect">
            <a:avLst/>
          </a:prstGeom>
          <a:solidFill>
            <a:srgbClr val="F9C7C7"/>
          </a:solidFill>
          <a:ln w="12700">
            <a:solidFill>
              <a:srgbClr val="F2A9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Show error "Resume</a:t>
            </a:r>
          </a:p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not uploaded"</a:t>
            </a:r>
          </a:p>
        </p:txBody>
      </p:sp>
      <p:sp>
        <p:nvSpPr>
          <p:cNvPr id="37" name="Connector 37"/>
          <p:cNvSpPr/>
          <p:nvPr/>
        </p:nvSpPr>
        <p:spPr>
          <a:xfrm>
            <a:off x="9563100" y="2000250"/>
            <a:ext cx="5905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38" name="Shape 38"/>
          <p:cNvSpPr/>
          <p:nvPr/>
        </p:nvSpPr>
        <p:spPr>
          <a:xfrm>
            <a:off x="10153650" y="1876425"/>
            <a:ext cx="590550" cy="247650"/>
          </a:xfrm>
          <a:prstGeom prst="roundRect">
            <a:avLst/>
          </a:prstGeom>
          <a:solidFill>
            <a:srgbClr val="F6B7AE"/>
          </a:solidFill>
          <a:ln w="12700">
            <a:solidFill>
              <a:srgbClr val="F1E7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 b="1">
                <a:solidFill>
                  <a:srgbClr val="111827"/>
                </a:solidFill>
                <a:latin typeface="Aptos"/>
              </a:rPr>
              <a:t>END</a:t>
            </a:r>
          </a:p>
        </p:txBody>
      </p:sp>
      <p:sp>
        <p:nvSpPr>
          <p:cNvPr id="39" name="Connector 39"/>
          <p:cNvSpPr/>
          <p:nvPr/>
        </p:nvSpPr>
        <p:spPr>
          <a:xfrm>
            <a:off x="7048500" y="3067050"/>
            <a:ext cx="10477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40" name="Shape 40"/>
          <p:cNvSpPr/>
          <p:nvPr/>
        </p:nvSpPr>
        <p:spPr>
          <a:xfrm>
            <a:off x="7162800" y="2886075"/>
            <a:ext cx="266700" cy="1524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/>
              </a:rPr>
              <a:t>NO</a:t>
            </a:r>
          </a:p>
        </p:txBody>
      </p:sp>
      <p:sp>
        <p:nvSpPr>
          <p:cNvPr id="41" name="Shape 41"/>
          <p:cNvSpPr/>
          <p:nvPr/>
        </p:nvSpPr>
        <p:spPr>
          <a:xfrm>
            <a:off x="8096250" y="2895600"/>
            <a:ext cx="1466850" cy="342900"/>
          </a:xfrm>
          <a:prstGeom prst="roundRect">
            <a:avLst/>
          </a:prstGeom>
          <a:solidFill>
            <a:srgbClr val="F9C7C7"/>
          </a:solidFill>
          <a:ln w="12700">
            <a:solidFill>
              <a:srgbClr val="F2A9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Show error "Could not</a:t>
            </a:r>
          </a:p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parse resume"</a:t>
            </a:r>
          </a:p>
        </p:txBody>
      </p:sp>
      <p:sp>
        <p:nvSpPr>
          <p:cNvPr id="42" name="Connector 42"/>
          <p:cNvSpPr/>
          <p:nvPr/>
        </p:nvSpPr>
        <p:spPr>
          <a:xfrm>
            <a:off x="9563100" y="3067050"/>
            <a:ext cx="5905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43" name="Shape 43"/>
          <p:cNvSpPr/>
          <p:nvPr/>
        </p:nvSpPr>
        <p:spPr>
          <a:xfrm>
            <a:off x="10153650" y="2943225"/>
            <a:ext cx="590550" cy="247650"/>
          </a:xfrm>
          <a:prstGeom prst="roundRect">
            <a:avLst/>
          </a:prstGeom>
          <a:solidFill>
            <a:srgbClr val="F6B7AE"/>
          </a:solidFill>
          <a:ln w="12700">
            <a:solidFill>
              <a:srgbClr val="F1E7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 b="1">
                <a:solidFill>
                  <a:srgbClr val="111827"/>
                </a:solidFill>
                <a:latin typeface="Aptos"/>
              </a:rPr>
              <a:t>END</a:t>
            </a:r>
          </a:p>
        </p:txBody>
      </p:sp>
      <p:sp>
        <p:nvSpPr>
          <p:cNvPr id="44" name="Connector 44"/>
          <p:cNvSpPr/>
          <p:nvPr/>
        </p:nvSpPr>
        <p:spPr>
          <a:xfrm>
            <a:off x="7048500" y="4133850"/>
            <a:ext cx="10477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45" name="Shape 45"/>
          <p:cNvSpPr/>
          <p:nvPr/>
        </p:nvSpPr>
        <p:spPr>
          <a:xfrm>
            <a:off x="7162800" y="3952875"/>
            <a:ext cx="266700" cy="1524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/>
              </a:rPr>
              <a:t>NO</a:t>
            </a:r>
          </a:p>
        </p:txBody>
      </p:sp>
      <p:sp>
        <p:nvSpPr>
          <p:cNvPr id="46" name="Shape 46"/>
          <p:cNvSpPr/>
          <p:nvPr/>
        </p:nvSpPr>
        <p:spPr>
          <a:xfrm>
            <a:off x="8096250" y="3962400"/>
            <a:ext cx="1466850" cy="342900"/>
          </a:xfrm>
          <a:prstGeom prst="roundRect">
            <a:avLst/>
          </a:prstGeom>
          <a:solidFill>
            <a:srgbClr val="F9C7C7"/>
          </a:solidFill>
          <a:ln w="12700">
            <a:solidFill>
              <a:srgbClr val="F2A9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Show error "AI service</a:t>
            </a:r>
          </a:p>
          <a:p>
            <a:pPr algn="ctr"/>
            <a:r>
              <a:rPr lang="en-US" sz="800">
                <a:solidFill>
                  <a:srgbClr val="111827"/>
                </a:solidFill>
                <a:latin typeface="Aptos"/>
              </a:rPr>
              <a:t>unavailable"</a:t>
            </a:r>
          </a:p>
        </p:txBody>
      </p:sp>
      <p:sp>
        <p:nvSpPr>
          <p:cNvPr id="47" name="Connector 47"/>
          <p:cNvSpPr/>
          <p:nvPr/>
        </p:nvSpPr>
        <p:spPr>
          <a:xfrm>
            <a:off x="9563100" y="4133850"/>
            <a:ext cx="590550" cy="9525"/>
          </a:xfrm>
          <a:prstGeom prst="line">
            <a:avLst/>
          </a:prstGeom>
          <a:ln w="9525">
            <a:solidFill>
              <a:srgbClr val="FFFFFF"/>
            </a:solidFill>
            <a:headEnd type="triangle"/>
          </a:ln>
        </p:spPr>
      </p:sp>
      <p:sp>
        <p:nvSpPr>
          <p:cNvPr id="48" name="Shape 48"/>
          <p:cNvSpPr/>
          <p:nvPr/>
        </p:nvSpPr>
        <p:spPr>
          <a:xfrm>
            <a:off x="10153650" y="4010025"/>
            <a:ext cx="590550" cy="247650"/>
          </a:xfrm>
          <a:prstGeom prst="roundRect">
            <a:avLst/>
          </a:prstGeom>
          <a:solidFill>
            <a:srgbClr val="F6B7AE"/>
          </a:solidFill>
          <a:ln w="12700">
            <a:solidFill>
              <a:srgbClr val="F1E7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00" b="1">
                <a:solidFill>
                  <a:srgbClr val="111827"/>
                </a:solidFill>
                <a:latin typeface="Aptos"/>
              </a:rP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66750" y="495300"/>
            <a:ext cx="4953000" cy="43815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DFD Diagram</a:t>
            </a:r>
          </a:p>
        </p:txBody>
      </p:sp>
      <p:sp>
        <p:nvSpPr>
          <p:cNvPr id="3" name="Shape 3"/>
          <p:cNvSpPr/>
          <p:nvPr/>
        </p:nvSpPr>
        <p:spPr>
          <a:xfrm>
            <a:off x="666750" y="1190625"/>
            <a:ext cx="10858500" cy="4762500"/>
          </a:xfrm>
          <a:prstGeom prst="roundRect">
            <a:avLst/>
          </a:prstGeom>
          <a:solidFill>
            <a:srgbClr val="232A35"/>
          </a:solidFill>
          <a:ln w="12700">
            <a:solidFill>
              <a:srgbClr val="8FB3E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3000">
                <a:solidFill>
                  <a:srgbClr val="D7E5FF"/>
                </a:solidFill>
                <a:latin typeface="Aptos"/>
              </a:rPr>
              <a:t>DFD diagram will be placed here</a:t>
            </a:r>
          </a:p>
        </p:txBody>
      </p:sp>
      <p:sp>
        <p:nvSpPr>
          <p:cNvPr id="4" name="Shape 4"/>
          <p:cNvSpPr/>
          <p:nvPr/>
        </p:nvSpPr>
        <p:spPr>
          <a:xfrm>
            <a:off x="1143000" y="5572125"/>
            <a:ext cx="9906000" cy="266700"/>
          </a:xfrm>
          <a:prstGeom prst="rect">
            <a:avLst/>
          </a:prstGeom>
          <a:solidFill>
            <a:srgbClr val="1A1F27"/>
          </a:solidFill>
          <a:ln w="12700">
            <a:solidFill>
              <a:srgbClr val="1A1F2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700">
                <a:solidFill>
                  <a:srgbClr val="AAB7C4"/>
                </a:solidFill>
                <a:latin typeface="Aptos"/>
              </a:rPr>
              <a:t>Reserved space for the Data Flow Diagram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ring Co-Pilot">
  <a:themeElements>
    <a:clrScheme name="Hiring">
      <a:dk1>
        <a:srgbClr val="111827"/>
      </a:dk1>
      <a:lt1>
        <a:srgbClr val="FFFFFF"/>
      </a:lt1>
      <a:dk2>
        <a:srgbClr val="1A1F27"/>
      </a:dk2>
      <a:lt2>
        <a:srgbClr val="F8FAFC"/>
      </a:lt2>
      <a:accent1>
        <a:srgbClr val="8FB3E8"/>
      </a:accent1>
      <a:accent2>
        <a:srgbClr val="8CCBBE"/>
      </a:accent2>
      <a:accent3>
        <a:srgbClr val="F4D377"/>
      </a:accent3>
      <a:accent4>
        <a:srgbClr val="F6B7AE"/>
      </a:accent4>
      <a:accent5>
        <a:srgbClr val="D4D4D4"/>
      </a:accent5>
      <a:accent6>
        <a:srgbClr val="AAB7C4"/>
      </a:accent6>
      <a:hlink>
        <a:srgbClr val="8FB3E8"/>
      </a:hlink>
      <a:folHlink>
        <a:srgbClr val="8CCBBE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